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handoutMasterIdLst>
    <p:handoutMasterId r:id="rId14"/>
  </p:handoutMasterIdLst>
  <p:sldIdLst>
    <p:sldId id="256" r:id="rId3"/>
    <p:sldId id="274" r:id="rId4"/>
    <p:sldId id="277" r:id="rId5"/>
    <p:sldId id="284" r:id="rId6"/>
    <p:sldId id="279" r:id="rId7"/>
    <p:sldId id="280" r:id="rId8"/>
    <p:sldId id="286" r:id="rId9"/>
    <p:sldId id="282" r:id="rId10"/>
    <p:sldId id="283" r:id="rId11"/>
    <p:sldId id="278" r:id="rId12"/>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88" userDrawn="1">
          <p15:clr>
            <a:srgbClr val="A4A3A4"/>
          </p15:clr>
        </p15:guide>
        <p15:guide id="2" pos="37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E"/>
    <a:srgbClr val="239148"/>
    <a:srgbClr val="249036"/>
    <a:srgbClr val="1D75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showGuides="1">
      <p:cViewPr varScale="1">
        <p:scale>
          <a:sx n="68" d="100"/>
          <a:sy n="68" d="100"/>
        </p:scale>
        <p:origin x="500" y="48"/>
      </p:cViewPr>
      <p:guideLst>
        <p:guide orient="horz" pos="2188"/>
        <p:guide pos="379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65338B-45F5-4124-94A9-76B3E2F62982}" type="datetimeFigureOut">
              <a:rPr lang="en-GB" smtClean="0"/>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60C3D5-C3C6-49A2-AA58-CAC07C54C126}" type="slidenum">
              <a:rPr lang="en-GB" smtClean="0"/>
            </a:fld>
            <a:endParaRPr lang="en-GB"/>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B2C232-FC91-408C-A68F-DC6049BD71E4}"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DC4D18-CADE-4094-B419-9A7AEB386452}" type="slidenum">
              <a:rPr lang="en-GB" smtClean="0"/>
            </a:fld>
            <a:endParaRPr lang="en-GB"/>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fld id="{AE5A6785-7FCA-4498-9CB8-AB2F1174FA8D}" type="datetimeFigureOut">
              <a:rPr lang="en-US" smtClean="0"/>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82CD696-6092-4FF4-83F5-34AC00A455A2}"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E045A814-DE37-4408-B41B-5EF3F293673E}" type="datetimeFigureOut">
              <a:rPr lang="en-US" smtClean="0"/>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BBFEB1D-057A-496F-99DC-5E90AAD630E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pPr>
              <a:defRPr/>
            </a:pPr>
            <a:fld id="{19162D24-EC06-4DAA-940B-C46372EB02A4}" type="datetimeFigureOut">
              <a:rPr lang="en-US" smtClean="0"/>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598833-7B09-40C3-8C1C-19FA3DFF887C}"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414032A0-38C8-4A77-92DA-56DBA83EC96F}" type="datetimeFigureOut">
              <a:rPr lang="en-US" smtClean="0"/>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73AAE0E-469B-471E-BFDB-96169C923C4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1B8253E3-7E89-41A6-AB9E-F9F081B0FDC6}" type="datetimeFigureOut">
              <a:rPr lang="en-US" smtClean="0"/>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5F51CD0-393B-4043-B652-92126125BB7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27F051A1-CBE0-4489-965F-44B76F588871}" type="datetimeFigureOut">
              <a:rPr lang="en-US" smtClean="0"/>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6CD56FC-ACF8-4CA8-9BDC-228F28EADE3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2514FDBE-B80B-496C-A59A-48F171970CC9}" type="datetimeFigureOut">
              <a:rPr lang="en-US" smtClean="0"/>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7AE21568-4105-4E31-BDF3-74A4803D084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fld id="{D003D3B8-E6A2-4FE6-BC96-F0518206443E}" type="datetimeFigureOut">
              <a:rPr lang="en-US" smtClean="0"/>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5CF5936E-5AC6-48B8-A340-CA468FE2E83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pPr>
              <a:defRPr/>
            </a:pPr>
            <a:fld id="{EFF9339E-7082-4287-B5FC-74655A10A144}" type="datetimeFigureOut">
              <a:rPr lang="en-US" smtClean="0"/>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34AA11D-1CAA-49CE-9BDA-FAD1335AA1E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03C5948A-0C80-43E1-A292-7180289D4A60}" type="datetimeFigureOut">
              <a:rPr lang="en-US" smtClean="0"/>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02D2931-ADA1-4369-81E2-68B63FD4E4E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99503E99-E353-4719-99C9-12B4F0671346}" type="datetimeFigureOut">
              <a:rPr lang="en-US" smtClean="0"/>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21F68C6-FD41-4204-A9BE-5D2772A2E48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EFA6F1A1-FBB5-4D8C-A057-C6F3863AD4D4}" type="datetimeFigureOut">
              <a:rPr lang="en-US" smtClean="0"/>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D5DDDD62-76B8-4644-9839-703C365787A2}" type="slidenum">
              <a:rPr lang="en-US" smtClean="0"/>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txBox="1">
            <a:spLocks noChangeArrowheads="1"/>
          </p:cNvSpPr>
          <p:nvPr/>
        </p:nvSpPr>
        <p:spPr bwMode="auto">
          <a:xfrm>
            <a:off x="153103" y="4400873"/>
            <a:ext cx="114998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lvl="0" algn="ctr" eaLnBrk="1" hangingPunct="1"/>
            <a:r>
              <a:rPr lang="en-US" dirty="0"/>
              <a:t>[Paper Title: </a:t>
            </a:r>
            <a:r>
              <a:rPr lang="en-US" altLang="en-US" b="1" dirty="0" smtClean="0"/>
              <a:t>Mental Health tracking and surveillance using CBT-based chatbot and BERT classifier</a:t>
            </a:r>
            <a:r>
              <a:rPr lang="en-US" dirty="0" smtClean="0"/>
              <a:t>]</a:t>
            </a:r>
            <a:endParaRPr lang="en-US" dirty="0"/>
          </a:p>
          <a:p>
            <a:pPr lvl="0" algn="ctr" eaLnBrk="1" hangingPunct="1"/>
            <a:r>
              <a:rPr lang="en-US" dirty="0"/>
              <a:t>[Paper </a:t>
            </a:r>
            <a:r>
              <a:rPr lang="en-US" dirty="0" smtClean="0"/>
              <a:t>ID:</a:t>
            </a:r>
            <a:r>
              <a:rPr lang="en-IN" altLang="en-US" b="1" dirty="0" smtClean="0"/>
              <a:t>86</a:t>
            </a:r>
            <a:r>
              <a:rPr lang="en-US" dirty="0" smtClean="0"/>
              <a:t>]</a:t>
            </a:r>
            <a:endParaRPr lang="en-US" dirty="0"/>
          </a:p>
          <a:p>
            <a:pPr lvl="0" algn="ctr" eaLnBrk="1" hangingPunct="1"/>
            <a:r>
              <a:rPr lang="en-US" dirty="0"/>
              <a:t>[Session ID: </a:t>
            </a:r>
            <a:r>
              <a:rPr lang="en-US" b="1" dirty="0" smtClean="0"/>
              <a:t>TS-</a:t>
            </a:r>
            <a:r>
              <a:rPr lang="en-IN" altLang="en-US" b="1" dirty="0" smtClean="0"/>
              <a:t>10</a:t>
            </a:r>
            <a:r>
              <a:rPr lang="en-US" dirty="0" smtClean="0"/>
              <a:t>]</a:t>
            </a:r>
            <a:endParaRPr lang="en-US" dirty="0"/>
          </a:p>
          <a:p>
            <a:pPr lvl="0" algn="ctr" eaLnBrk="1" hangingPunct="1"/>
            <a:r>
              <a:rPr lang="en-US" dirty="0"/>
              <a:t>[Presented by:</a:t>
            </a:r>
            <a:r>
              <a:rPr lang="en-IN" altLang="en-US" dirty="0"/>
              <a:t> </a:t>
            </a:r>
            <a:r>
              <a:rPr lang="en-IN" altLang="en-US" b="1" dirty="0"/>
              <a:t>Ananya, Ashutosh, Arpita</a:t>
            </a:r>
            <a:r>
              <a:rPr lang="en-US" dirty="0" smtClean="0"/>
              <a:t>]</a:t>
            </a:r>
            <a:endParaRPr lang="en-US" dirty="0" smtClean="0"/>
          </a:p>
          <a:p>
            <a:pPr lvl="0" algn="ctr"/>
            <a:r>
              <a:rPr lang="en-US" dirty="0" smtClean="0"/>
              <a:t>[Name of College/Organization:</a:t>
            </a:r>
            <a:r>
              <a:rPr lang="en-IN" altLang="en-US" dirty="0" smtClean="0"/>
              <a:t> </a:t>
            </a:r>
            <a:r>
              <a:rPr lang="en-IN" altLang="en-US" b="1" dirty="0" smtClean="0"/>
              <a:t>KIET Group Of Intitutions</a:t>
            </a:r>
            <a:r>
              <a:rPr lang="en-US" b="1" dirty="0" smtClean="0"/>
              <a:t>]</a:t>
            </a:r>
            <a:endParaRPr lang="en-US" b="1" dirty="0"/>
          </a:p>
        </p:txBody>
      </p:sp>
      <p:sp>
        <p:nvSpPr>
          <p:cNvPr id="13" name="TextBox 5"/>
          <p:cNvSpPr txBox="1">
            <a:spLocks noChangeArrowheads="1"/>
          </p:cNvSpPr>
          <p:nvPr/>
        </p:nvSpPr>
        <p:spPr bwMode="auto">
          <a:xfrm>
            <a:off x="510683" y="6421437"/>
            <a:ext cx="2539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E2ACON 2025@NITJ</a:t>
            </a:r>
            <a:endParaRPr lang="en-US" dirty="0">
              <a:solidFill>
                <a:schemeClr val="bg1"/>
              </a:solidFill>
            </a:endParaRPr>
          </a:p>
        </p:txBody>
      </p:sp>
      <p:sp>
        <p:nvSpPr>
          <p:cNvPr id="16" name="TextBox 5"/>
          <p:cNvSpPr txBox="1">
            <a:spLocks noChangeArrowheads="1"/>
          </p:cNvSpPr>
          <p:nvPr/>
        </p:nvSpPr>
        <p:spPr bwMode="auto">
          <a:xfrm>
            <a:off x="10084119" y="6421437"/>
            <a:ext cx="1710236"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Paper ID: </a:t>
            </a:r>
            <a:r>
              <a:rPr lang="en-IN" altLang="en-US" dirty="0" smtClean="0">
                <a:solidFill>
                  <a:schemeClr val="bg1"/>
                </a:solidFill>
              </a:rPr>
              <a:t>86</a:t>
            </a:r>
            <a:endParaRPr lang="en-IN" altLang="en-US" dirty="0" smtClean="0">
              <a:solidFill>
                <a:schemeClr val="bg1"/>
              </a:solidFill>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83516" y="2581574"/>
            <a:ext cx="1287118" cy="1407208"/>
          </a:xfrm>
          <a:prstGeom prst="rect">
            <a:avLst/>
          </a:prstGeom>
        </p:spPr>
      </p:pic>
      <p:grpSp>
        <p:nvGrpSpPr>
          <p:cNvPr id="19" name="Group 18"/>
          <p:cNvGrpSpPr/>
          <p:nvPr/>
        </p:nvGrpSpPr>
        <p:grpSpPr>
          <a:xfrm>
            <a:off x="1185311" y="379846"/>
            <a:ext cx="9678012" cy="3243069"/>
            <a:chOff x="1185311" y="379846"/>
            <a:chExt cx="9678012" cy="3243069"/>
          </a:xfrm>
        </p:grpSpPr>
        <p:sp>
          <p:nvSpPr>
            <p:cNvPr id="7" name="Rectangle 6"/>
            <p:cNvSpPr/>
            <p:nvPr/>
          </p:nvSpPr>
          <p:spPr>
            <a:xfrm>
              <a:off x="3049924" y="379846"/>
              <a:ext cx="6356391" cy="1938992"/>
            </a:xfrm>
            <a:prstGeom prst="rect">
              <a:avLst/>
            </a:prstGeom>
          </p:spPr>
          <p:txBody>
            <a:bodyPr wrap="square">
              <a:spAutoFit/>
            </a:bodyPr>
            <a:lstStyle/>
            <a:p>
              <a:pPr algn="ctr" eaLnBrk="1" hangingPunct="1"/>
              <a:r>
                <a:rPr lang="en-US" sz="2400" b="1" dirty="0" smtClean="0">
                  <a:latin typeface="Georgia Pro Black" panose="02040A02050405020203" pitchFamily="18" charset="0"/>
                </a:rPr>
                <a:t>E2ACON 2025</a:t>
              </a:r>
              <a:endParaRPr lang="en-US" sz="2400" b="1" dirty="0" smtClean="0">
                <a:latin typeface="Georgia Pro Black" panose="02040A02050405020203" pitchFamily="18" charset="0"/>
              </a:endParaRPr>
            </a:p>
            <a:p>
              <a:pPr algn="ctr" eaLnBrk="1" hangingPunct="1"/>
              <a:r>
                <a:rPr lang="en-US" sz="2400" dirty="0">
                  <a:latin typeface="Georgia Pro Black" panose="02040A02050405020203" pitchFamily="18" charset="0"/>
                </a:rPr>
                <a:t>International Conference on </a:t>
              </a:r>
              <a:endParaRPr lang="en-US" sz="2400" dirty="0" smtClean="0">
                <a:latin typeface="Georgia Pro Black" panose="02040A02050405020203" pitchFamily="18" charset="0"/>
              </a:endParaRPr>
            </a:p>
            <a:p>
              <a:pPr algn="ctr" eaLnBrk="1" hangingPunct="1"/>
              <a:r>
                <a:rPr lang="en-US" sz="2400" dirty="0" smtClean="0">
                  <a:latin typeface="Georgia Pro Black" panose="02040A02050405020203" pitchFamily="18" charset="0"/>
                </a:rPr>
                <a:t>Electrical</a:t>
              </a:r>
              <a:r>
                <a:rPr lang="en-US" sz="2400" dirty="0">
                  <a:latin typeface="Georgia Pro Black" panose="02040A02050405020203" pitchFamily="18" charset="0"/>
                </a:rPr>
                <a:t>, Electronics &amp; Automation  </a:t>
              </a:r>
              <a:endParaRPr lang="en-US" sz="2400" dirty="0">
                <a:latin typeface="Georgia Pro Black" panose="02040A02050405020203" pitchFamily="18" charset="0"/>
              </a:endParaRPr>
            </a:p>
            <a:p>
              <a:pPr algn="ctr" eaLnBrk="1" hangingPunct="1"/>
              <a:r>
                <a:rPr lang="en-US" sz="2400" dirty="0" smtClean="0">
                  <a:latin typeface="Georgia Pro Black" panose="02040A02050405020203" pitchFamily="18" charset="0"/>
                </a:rPr>
                <a:t>8-9 </a:t>
              </a:r>
              <a:r>
                <a:rPr lang="en-US" sz="2400" dirty="0">
                  <a:latin typeface="Georgia Pro Black" panose="02040A02050405020203" pitchFamily="18" charset="0"/>
                </a:rPr>
                <a:t>March </a:t>
              </a:r>
              <a:r>
                <a:rPr lang="en-US" sz="2400" dirty="0" smtClean="0">
                  <a:latin typeface="Georgia Pro Black" panose="02040A02050405020203" pitchFamily="18" charset="0"/>
                </a:rPr>
                <a:t>2025</a:t>
              </a:r>
              <a:endParaRPr lang="en-US" sz="2400" dirty="0" smtClean="0">
                <a:latin typeface="Georgia Pro Black" panose="02040A02050405020203" pitchFamily="18" charset="0"/>
              </a:endParaRPr>
            </a:p>
            <a:p>
              <a:pPr algn="ctr" eaLnBrk="1" hangingPunct="1"/>
              <a:r>
                <a:rPr lang="en-US" sz="2400" dirty="0" smtClean="0">
                  <a:latin typeface="Georgia Pro Black" panose="02040A02050405020203" pitchFamily="18" charset="0"/>
                </a:rPr>
                <a:t> </a:t>
              </a:r>
              <a:endParaRPr lang="en-US" sz="2400" dirty="0">
                <a:latin typeface="Georgia Pro Black" panose="02040A02050405020203" pitchFamily="18" charset="0"/>
              </a:endParaRPr>
            </a:p>
          </p:txBody>
        </p:sp>
        <p:sp>
          <p:nvSpPr>
            <p:cNvPr id="9" name="Rectangle 8"/>
            <p:cNvSpPr/>
            <p:nvPr/>
          </p:nvSpPr>
          <p:spPr>
            <a:xfrm>
              <a:off x="1185311" y="2192531"/>
              <a:ext cx="1864613" cy="369332"/>
            </a:xfrm>
            <a:prstGeom prst="rect">
              <a:avLst/>
            </a:prstGeom>
          </p:spPr>
          <p:txBody>
            <a:bodyPr wrap="none">
              <a:spAutoFit/>
            </a:bodyPr>
            <a:lstStyle/>
            <a:p>
              <a:pPr algn="ctr" eaLnBrk="1" hangingPunct="1"/>
              <a:r>
                <a:rPr lang="en-US" b="1" dirty="0">
                  <a:latin typeface="Georgia Pro Black" panose="02040A02050405020203" pitchFamily="18" charset="0"/>
                </a:rPr>
                <a:t>Organized by</a:t>
              </a:r>
              <a:endParaRPr lang="en-US" b="1" dirty="0">
                <a:latin typeface="Georgia Pro Black" panose="02040A02050405020203" pitchFamily="18" charset="0"/>
              </a:endParaRPr>
            </a:p>
          </p:txBody>
        </p:sp>
        <p:sp>
          <p:nvSpPr>
            <p:cNvPr id="10" name="Rectangle 9"/>
            <p:cNvSpPr/>
            <p:nvPr/>
          </p:nvSpPr>
          <p:spPr>
            <a:xfrm>
              <a:off x="5130604" y="2223670"/>
              <a:ext cx="1874231" cy="369332"/>
            </a:xfrm>
            <a:prstGeom prst="rect">
              <a:avLst/>
            </a:prstGeom>
          </p:spPr>
          <p:txBody>
            <a:bodyPr wrap="none">
              <a:spAutoFit/>
            </a:bodyPr>
            <a:lstStyle/>
            <a:p>
              <a:pPr algn="ctr" eaLnBrk="1" hangingPunct="1"/>
              <a:r>
                <a:rPr lang="en-US" b="1" dirty="0" smtClean="0">
                  <a:latin typeface="Georgia Pro Black" panose="02040A02050405020203" pitchFamily="18" charset="0"/>
                </a:rPr>
                <a:t>Co-Hosted by</a:t>
              </a:r>
              <a:endParaRPr lang="en-US" b="1" dirty="0">
                <a:latin typeface="Georgia Pro Black" panose="02040A02050405020203" pitchFamily="18"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0604" y="2758943"/>
              <a:ext cx="2089608" cy="863972"/>
            </a:xfrm>
            <a:prstGeom prst="rect">
              <a:avLst/>
            </a:prstGeom>
          </p:spPr>
        </p:pic>
        <p:pic>
          <p:nvPicPr>
            <p:cNvPr id="17" name="Picture 16"/>
            <p:cNvPicPr>
              <a:picLocks noChangeAspect="1"/>
            </p:cNvPicPr>
            <p:nvPr/>
          </p:nvPicPr>
          <p:blipFill>
            <a:blip r:embed="rId3"/>
            <a:stretch>
              <a:fillRect/>
            </a:stretch>
          </p:blipFill>
          <p:spPr>
            <a:xfrm>
              <a:off x="8238886" y="2725025"/>
              <a:ext cx="2597283" cy="723937"/>
            </a:xfrm>
            <a:prstGeom prst="rect">
              <a:avLst/>
            </a:prstGeom>
          </p:spPr>
        </p:pic>
        <p:sp>
          <p:nvSpPr>
            <p:cNvPr id="22" name="Rectangle 21"/>
            <p:cNvSpPr/>
            <p:nvPr/>
          </p:nvSpPr>
          <p:spPr>
            <a:xfrm>
              <a:off x="8238886" y="2218856"/>
              <a:ext cx="2624437" cy="369332"/>
            </a:xfrm>
            <a:prstGeom prst="rect">
              <a:avLst/>
            </a:prstGeom>
          </p:spPr>
          <p:txBody>
            <a:bodyPr wrap="none">
              <a:spAutoFit/>
            </a:bodyPr>
            <a:lstStyle/>
            <a:p>
              <a:pPr algn="ctr" eaLnBrk="1" hangingPunct="1"/>
              <a:r>
                <a:rPr lang="en-US" b="1" dirty="0" smtClean="0">
                  <a:latin typeface="Georgia Pro Black" panose="02040A02050405020203" pitchFamily="18" charset="0"/>
                </a:rPr>
                <a:t>Publishing Partner</a:t>
              </a:r>
              <a:endParaRPr lang="en-US" b="1" dirty="0">
                <a:latin typeface="Georgia Pro Black" panose="02040A02050405020203" pitchFamily="18" charset="0"/>
              </a:endParaRPr>
            </a:p>
          </p:txBody>
        </p:sp>
        <p:pic>
          <p:nvPicPr>
            <p:cNvPr id="18" name="Picture 17"/>
            <p:cNvPicPr>
              <a:picLocks noChangeAspect="1"/>
            </p:cNvPicPr>
            <p:nvPr/>
          </p:nvPicPr>
          <p:blipFill>
            <a:blip r:embed="rId4"/>
            <a:stretch>
              <a:fillRect/>
            </a:stretch>
          </p:blipFill>
          <p:spPr>
            <a:xfrm>
              <a:off x="1504269" y="544318"/>
              <a:ext cx="1045612" cy="1135236"/>
            </a:xfrm>
            <a:prstGeom prst="rect">
              <a:avLst/>
            </a:prstGeom>
          </p:spPr>
        </p:pic>
      </p:grpSp>
      <p:pic>
        <p:nvPicPr>
          <p:cNvPr id="3" name="Picture 2" descr="kietlogo"/>
          <p:cNvPicPr>
            <a:picLocks noChangeAspect="1"/>
          </p:cNvPicPr>
          <p:nvPr/>
        </p:nvPicPr>
        <p:blipFill>
          <a:blip r:embed="rId5"/>
          <a:srcRect l="13494" t="15999" r="10636" b="14968"/>
          <a:stretch>
            <a:fillRect/>
          </a:stretch>
        </p:blipFill>
        <p:spPr>
          <a:xfrm>
            <a:off x="9480550" y="4761865"/>
            <a:ext cx="1635125" cy="148780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1363" y="1096308"/>
            <a:ext cx="10058400" cy="591732"/>
          </a:xfrm>
        </p:spPr>
        <p:txBody>
          <a:bodyPr>
            <a:normAutofit/>
          </a:bodyPr>
          <a:lstStyle/>
          <a:p>
            <a:pPr algn="ctr"/>
            <a:r>
              <a:rPr lang="en-US" sz="3200" b="1" dirty="0">
                <a:latin typeface="Arial" panose="020B0604020202020204" pitchFamily="34" charset="0"/>
                <a:cs typeface="Arial" panose="020B0604020202020204" pitchFamily="34" charset="0"/>
              </a:rPr>
              <a:t>Contents</a:t>
            </a:r>
            <a:endParaRPr lang="en-GB" sz="3200" b="1" dirty="0">
              <a:latin typeface="Arial" panose="020B0604020202020204" pitchFamily="34" charset="0"/>
              <a:cs typeface="Arial" panose="020B0604020202020204" pitchFamily="34" charset="0"/>
            </a:endParaRPr>
          </a:p>
        </p:txBody>
      </p:sp>
      <p:sp>
        <p:nvSpPr>
          <p:cNvPr id="5" name="Rectangle 4"/>
          <p:cNvSpPr/>
          <p:nvPr/>
        </p:nvSpPr>
        <p:spPr>
          <a:xfrm>
            <a:off x="651642" y="1989873"/>
            <a:ext cx="6096000" cy="2554545"/>
          </a:xfrm>
          <a:prstGeom prst="rect">
            <a:avLst/>
          </a:prstGeom>
        </p:spPr>
        <p:txBody>
          <a:bodyPr>
            <a:spAutoFit/>
          </a:bodyPr>
          <a:lstStyle/>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Introduction</a:t>
            </a:r>
            <a:endParaRPr lang="en-US" sz="2000" dirty="0" smtClean="0">
              <a:latin typeface="Arial" panose="020B0604020202020204" pitchFamily="34" charset="0"/>
              <a:cs typeface="Arial" panose="020B0604020202020204" pitchFamily="34" charset="0"/>
            </a:endParaRPr>
          </a:p>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Motivation/Problem Statement</a:t>
            </a:r>
            <a:endParaRPr lang="en-US" sz="2000" dirty="0" smtClean="0">
              <a:latin typeface="Arial" panose="020B0604020202020204" pitchFamily="34" charset="0"/>
              <a:cs typeface="Arial" panose="020B0604020202020204" pitchFamily="34" charset="0"/>
            </a:endParaRPr>
          </a:p>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Literature Review</a:t>
            </a:r>
            <a:endParaRPr lang="en-US" sz="2000" dirty="0" smtClean="0">
              <a:latin typeface="Arial" panose="020B0604020202020204" pitchFamily="34" charset="0"/>
              <a:cs typeface="Arial" panose="020B0604020202020204" pitchFamily="34" charset="0"/>
            </a:endParaRPr>
          </a:p>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Objective</a:t>
            </a:r>
            <a:endParaRPr lang="en-US" sz="2000" dirty="0" smtClean="0">
              <a:latin typeface="Arial" panose="020B0604020202020204" pitchFamily="34" charset="0"/>
              <a:cs typeface="Arial" panose="020B0604020202020204" pitchFamily="34" charset="0"/>
            </a:endParaRPr>
          </a:p>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Proposed Methodology</a:t>
            </a:r>
            <a:endParaRPr lang="en-US" sz="2000" dirty="0" smtClean="0">
              <a:latin typeface="Arial" panose="020B0604020202020204" pitchFamily="34" charset="0"/>
              <a:cs typeface="Arial" panose="020B0604020202020204" pitchFamily="34" charset="0"/>
            </a:endParaRPr>
          </a:p>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Results and Discussion</a:t>
            </a:r>
            <a:endParaRPr lang="en-US" sz="2000" dirty="0" smtClean="0">
              <a:latin typeface="Arial" panose="020B0604020202020204" pitchFamily="34" charset="0"/>
              <a:cs typeface="Arial" panose="020B0604020202020204" pitchFamily="34" charset="0"/>
            </a:endParaRPr>
          </a:p>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Conclusion </a:t>
            </a:r>
            <a:r>
              <a:rPr lang="en-US" sz="2000" dirty="0">
                <a:latin typeface="Arial" panose="020B0604020202020204" pitchFamily="34" charset="0"/>
                <a:cs typeface="Arial" panose="020B0604020202020204" pitchFamily="34" charset="0"/>
              </a:rPr>
              <a:t>and </a:t>
            </a:r>
            <a:r>
              <a:rPr lang="en-US" sz="2000" dirty="0" smtClean="0">
                <a:latin typeface="Arial" panose="020B0604020202020204" pitchFamily="34" charset="0"/>
                <a:cs typeface="Arial" panose="020B0604020202020204" pitchFamily="34" charset="0"/>
              </a:rPr>
              <a:t>Future Work</a:t>
            </a:r>
            <a:endParaRPr lang="en-US" sz="2000" dirty="0" smtClean="0">
              <a:latin typeface="Arial" panose="020B0604020202020204" pitchFamily="34" charset="0"/>
              <a:cs typeface="Arial" panose="020B0604020202020204" pitchFamily="34" charset="0"/>
            </a:endParaRPr>
          </a:p>
          <a:p>
            <a:pPr marL="800100" lvl="1" indent="-342900" algn="just">
              <a:buFont typeface="Wingdings" panose="05000000000000000000" pitchFamily="2" charset="2"/>
              <a:buChar char="§"/>
            </a:pPr>
            <a:r>
              <a:rPr lang="en-US" sz="2000" dirty="0" smtClean="0">
                <a:latin typeface="Arial" panose="020B0604020202020204" pitchFamily="34" charset="0"/>
                <a:cs typeface="Arial" panose="020B0604020202020204" pitchFamily="34" charset="0"/>
              </a:rPr>
              <a:t>References</a:t>
            </a:r>
            <a:endParaRPr lang="en-US" sz="2000" dirty="0">
              <a:latin typeface="Arial" panose="020B0604020202020204" pitchFamily="34" charset="0"/>
              <a:cs typeface="Arial" panose="020B0604020202020204" pitchFamily="34" charset="0"/>
            </a:endParaRPr>
          </a:p>
        </p:txBody>
      </p:sp>
      <p:sp>
        <p:nvSpPr>
          <p:cNvPr id="7" name="TextBox 5"/>
          <p:cNvSpPr txBox="1">
            <a:spLocks noChangeArrowheads="1"/>
          </p:cNvSpPr>
          <p:nvPr/>
        </p:nvSpPr>
        <p:spPr bwMode="auto">
          <a:xfrm>
            <a:off x="510683" y="6421437"/>
            <a:ext cx="2162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E2ACON 2025</a:t>
            </a:r>
            <a:endParaRPr lang="en-US" dirty="0">
              <a:solidFill>
                <a:schemeClr val="bg1"/>
              </a:solidFill>
            </a:endParaRPr>
          </a:p>
        </p:txBody>
      </p:sp>
      <p:sp>
        <p:nvSpPr>
          <p:cNvPr id="8" name="TextBox 5"/>
          <p:cNvSpPr txBox="1">
            <a:spLocks noChangeArrowheads="1"/>
          </p:cNvSpPr>
          <p:nvPr/>
        </p:nvSpPr>
        <p:spPr bwMode="auto">
          <a:xfrm>
            <a:off x="10084119" y="6421437"/>
            <a:ext cx="1710236"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sym typeface="+mn-ea"/>
              </a:rPr>
              <a:t>Paper ID: </a:t>
            </a:r>
            <a:r>
              <a:rPr lang="en-IN" altLang="en-US" dirty="0" smtClean="0">
                <a:solidFill>
                  <a:schemeClr val="bg1"/>
                </a:solidFill>
                <a:sym typeface="+mn-ea"/>
              </a:rPr>
              <a:t>86</a:t>
            </a:r>
            <a:endParaRPr lang="en-US" dirty="0">
              <a:solidFill>
                <a:schemeClr val="bg1"/>
              </a:solidFill>
            </a:endParaRPr>
          </a:p>
        </p:txBody>
      </p:sp>
      <p:pic>
        <p:nvPicPr>
          <p:cNvPr id="10" name="Picture 9"/>
          <p:cNvPicPr>
            <a:picLocks noChangeAspect="1"/>
          </p:cNvPicPr>
          <p:nvPr/>
        </p:nvPicPr>
        <p:blipFill>
          <a:blip r:embed="rId1"/>
          <a:stretch>
            <a:fillRect/>
          </a:stretch>
        </p:blipFill>
        <p:spPr>
          <a:xfrm>
            <a:off x="10831362" y="363384"/>
            <a:ext cx="816801" cy="862180"/>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sp>
        <p:nvSpPr>
          <p:cNvPr id="12" name="TextBox 5"/>
          <p:cNvSpPr txBox="1">
            <a:spLocks noChangeArrowheads="1"/>
          </p:cNvSpPr>
          <p:nvPr/>
        </p:nvSpPr>
        <p:spPr bwMode="auto">
          <a:xfrm>
            <a:off x="510683" y="6421437"/>
            <a:ext cx="2539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E2ACON 2025@NITJ</a:t>
            </a:r>
            <a:endParaRPr lang="en-US" dirty="0">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1363" y="1096308"/>
            <a:ext cx="10058400" cy="591732"/>
          </a:xfrm>
        </p:spPr>
        <p:txBody>
          <a:bodyPr>
            <a:normAutofit/>
          </a:bodyPr>
          <a:lstStyle/>
          <a:p>
            <a:pPr algn="ctr"/>
            <a:r>
              <a:rPr lang="en-US" sz="3200" b="1" dirty="0" smtClean="0">
                <a:latin typeface="Arial" panose="020B0604020202020204" pitchFamily="34" charset="0"/>
                <a:cs typeface="Arial" panose="020B0604020202020204" pitchFamily="34" charset="0"/>
              </a:rPr>
              <a:t>Introduction</a:t>
            </a:r>
            <a:endParaRPr lang="en-GB" sz="3200" b="1" dirty="0">
              <a:latin typeface="Arial" panose="020B0604020202020204" pitchFamily="34" charset="0"/>
              <a:cs typeface="Arial" panose="020B0604020202020204" pitchFamily="34" charset="0"/>
            </a:endParaRPr>
          </a:p>
        </p:txBody>
      </p:sp>
      <p:sp>
        <p:nvSpPr>
          <p:cNvPr id="7" name="TextBox 5"/>
          <p:cNvSpPr txBox="1">
            <a:spLocks noChangeArrowheads="1"/>
          </p:cNvSpPr>
          <p:nvPr/>
        </p:nvSpPr>
        <p:spPr bwMode="auto">
          <a:xfrm>
            <a:off x="510683" y="6421437"/>
            <a:ext cx="2162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E2ACON 2025</a:t>
            </a:r>
            <a:endParaRPr lang="en-US" dirty="0">
              <a:solidFill>
                <a:schemeClr val="bg1"/>
              </a:solidFill>
            </a:endParaRPr>
          </a:p>
        </p:txBody>
      </p:sp>
      <p:sp>
        <p:nvSpPr>
          <p:cNvPr id="8" name="TextBox 5"/>
          <p:cNvSpPr txBox="1">
            <a:spLocks noChangeArrowheads="1"/>
          </p:cNvSpPr>
          <p:nvPr/>
        </p:nvSpPr>
        <p:spPr bwMode="auto">
          <a:xfrm>
            <a:off x="10084119" y="6421437"/>
            <a:ext cx="1710236"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sym typeface="+mn-ea"/>
              </a:rPr>
              <a:t>Paper ID: </a:t>
            </a:r>
            <a:r>
              <a:rPr lang="en-IN" altLang="en-US" dirty="0" smtClean="0">
                <a:solidFill>
                  <a:schemeClr val="bg1"/>
                </a:solidFill>
                <a:sym typeface="+mn-ea"/>
              </a:rPr>
              <a:t>86</a:t>
            </a:r>
            <a:endParaRPr lang="en-US" dirty="0">
              <a:solidFill>
                <a:schemeClr val="bg1"/>
              </a:solidFill>
            </a:endParaRPr>
          </a:p>
        </p:txBody>
      </p:sp>
      <p:pic>
        <p:nvPicPr>
          <p:cNvPr id="10" name="Picture 9"/>
          <p:cNvPicPr>
            <a:picLocks noChangeAspect="1"/>
          </p:cNvPicPr>
          <p:nvPr/>
        </p:nvPicPr>
        <p:blipFill>
          <a:blip r:embed="rId1"/>
          <a:stretch>
            <a:fillRect/>
          </a:stretch>
        </p:blipFill>
        <p:spPr>
          <a:xfrm>
            <a:off x="10831362" y="363384"/>
            <a:ext cx="816801" cy="862180"/>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sp>
        <p:nvSpPr>
          <p:cNvPr id="9" name="TextBox 5"/>
          <p:cNvSpPr txBox="1">
            <a:spLocks noChangeArrowheads="1"/>
          </p:cNvSpPr>
          <p:nvPr/>
        </p:nvSpPr>
        <p:spPr bwMode="auto">
          <a:xfrm>
            <a:off x="510683" y="6421437"/>
            <a:ext cx="2539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E2ACON 2025@NITJ</a:t>
            </a:r>
            <a:endParaRPr lang="en-US" dirty="0">
              <a:solidFill>
                <a:schemeClr val="bg1"/>
              </a:solidFill>
            </a:endParaRPr>
          </a:p>
        </p:txBody>
      </p:sp>
      <p:sp>
        <p:nvSpPr>
          <p:cNvPr id="5" name="Text Box 4"/>
          <p:cNvSpPr txBox="1"/>
          <p:nvPr/>
        </p:nvSpPr>
        <p:spPr>
          <a:xfrm>
            <a:off x="1181100" y="1955800"/>
            <a:ext cx="10058400" cy="2861310"/>
          </a:xfrm>
          <a:prstGeom prst="rect">
            <a:avLst/>
          </a:prstGeom>
          <a:noFill/>
        </p:spPr>
        <p:txBody>
          <a:bodyPr wrap="square" rtlCol="0">
            <a:spAutoFit/>
          </a:bodyPr>
          <a:p>
            <a:pPr marL="285750" indent="-285750">
              <a:buFont typeface="Wingdings" panose="05000000000000000000" charset="0"/>
              <a:buChar char="§"/>
            </a:pPr>
            <a:r>
              <a:rPr lang="en-US" altLang="en-US" sz="2000">
                <a:latin typeface="Arial" panose="020B0604020202020204" pitchFamily="34" charset="0"/>
                <a:cs typeface="Arial" panose="020B0604020202020204" pitchFamily="34" charset="0"/>
              </a:rPr>
              <a:t>Mental fitness is more than just the absence of mental illness.</a:t>
            </a:r>
            <a:endParaRPr lang="en-US" altLang="en-US" sz="2000">
              <a:latin typeface="Arial" panose="020B0604020202020204" pitchFamily="34" charset="0"/>
              <a:cs typeface="Arial" panose="020B0604020202020204" pitchFamily="34" charset="0"/>
            </a:endParaRPr>
          </a:p>
          <a:p>
            <a:pPr marL="285750" indent="-285750">
              <a:buFont typeface="Wingdings" panose="05000000000000000000" charset="0"/>
              <a:buChar char="§"/>
            </a:pPr>
            <a:r>
              <a:rPr lang="en-US" altLang="en-US" sz="2000">
                <a:latin typeface="Arial" panose="020B0604020202020204" pitchFamily="34" charset="0"/>
                <a:cs typeface="Arial" panose="020B0604020202020204" pitchFamily="34" charset="0"/>
              </a:rPr>
              <a:t>Good mental health helps individuals cope with challenges, reach their potential, and contribute to society.</a:t>
            </a:r>
            <a:endParaRPr lang="en-US" altLang="en-US" sz="2000">
              <a:latin typeface="Arial" panose="020B0604020202020204" pitchFamily="34" charset="0"/>
              <a:cs typeface="Arial" panose="020B0604020202020204" pitchFamily="34" charset="0"/>
            </a:endParaRPr>
          </a:p>
          <a:p>
            <a:pPr marL="285750" indent="-285750">
              <a:buFont typeface="Wingdings" panose="05000000000000000000" charset="0"/>
              <a:buChar char="§"/>
            </a:pPr>
            <a:r>
              <a:rPr lang="en-US" altLang="en-US" sz="2000">
                <a:latin typeface="Arial" panose="020B0604020202020204" pitchFamily="34" charset="0"/>
                <a:cs typeface="Arial" panose="020B0604020202020204" pitchFamily="34" charset="0"/>
              </a:rPr>
              <a:t>Students' mental health affects both their academic and social lives.</a:t>
            </a:r>
            <a:endParaRPr lang="en-US" altLang="en-US" sz="2000">
              <a:latin typeface="Arial" panose="020B0604020202020204" pitchFamily="34" charset="0"/>
              <a:cs typeface="Arial" panose="020B0604020202020204" pitchFamily="34" charset="0"/>
            </a:endParaRPr>
          </a:p>
          <a:p>
            <a:pPr marL="285750" indent="-285750">
              <a:buFont typeface="Wingdings" panose="05000000000000000000" charset="0"/>
              <a:buChar char="§"/>
            </a:pPr>
            <a:r>
              <a:rPr lang="en-US" altLang="en-US" sz="2000">
                <a:latin typeface="Arial" panose="020B0604020202020204" pitchFamily="34" charset="0"/>
                <a:cs typeface="Arial" panose="020B0604020202020204" pitchFamily="34" charset="0"/>
              </a:rPr>
              <a:t>A healthy mind leads to better learning, collaboration, and decision-making.</a:t>
            </a:r>
            <a:endParaRPr lang="en-US" altLang="en-US" sz="2000">
              <a:latin typeface="Arial" panose="020B0604020202020204" pitchFamily="34" charset="0"/>
              <a:cs typeface="Arial" panose="020B0604020202020204" pitchFamily="34" charset="0"/>
            </a:endParaRPr>
          </a:p>
          <a:p>
            <a:pPr marL="285750" indent="-285750">
              <a:buFont typeface="Wingdings" panose="05000000000000000000" charset="0"/>
              <a:buChar char="§"/>
            </a:pPr>
            <a:r>
              <a:rPr lang="en-US" altLang="en-US" sz="2000">
                <a:latin typeface="Arial" panose="020B0604020202020204" pitchFamily="34" charset="0"/>
                <a:cs typeface="Arial" panose="020B0604020202020204" pitchFamily="34" charset="0"/>
              </a:rPr>
              <a:t>Early detection of mental health issues is crucial for long-term well-being.</a:t>
            </a:r>
            <a:endParaRPr lang="en-US" altLang="en-US" sz="2000">
              <a:latin typeface="Arial" panose="020B0604020202020204" pitchFamily="34" charset="0"/>
              <a:cs typeface="Arial" panose="020B0604020202020204" pitchFamily="34" charset="0"/>
            </a:endParaRPr>
          </a:p>
          <a:p>
            <a:pPr marL="285750" indent="-285750">
              <a:buFont typeface="Wingdings" panose="05000000000000000000" charset="0"/>
              <a:buChar char="§"/>
            </a:pPr>
            <a:r>
              <a:rPr lang="en-US" altLang="en-US" sz="2000">
                <a:latin typeface="Arial" panose="020B0604020202020204" pitchFamily="34" charset="0"/>
                <a:cs typeface="Arial" panose="020B0604020202020204" pitchFamily="34" charset="0"/>
              </a:rPr>
              <a:t>The goal is to track and identify mental health concerns in students for timely intervention.</a:t>
            </a:r>
            <a:endParaRPr lang="en-US" altLang="en-US" sz="2000">
              <a:latin typeface="Arial" panose="020B0604020202020204" pitchFamily="34" charset="0"/>
              <a:cs typeface="Arial" panose="020B0604020202020204" pitchFamily="34" charset="0"/>
            </a:endParaRPr>
          </a:p>
          <a:p>
            <a:pPr marL="285750" indent="-285750">
              <a:buFont typeface="Wingdings" panose="05000000000000000000" charset="0"/>
              <a:buChar char="§"/>
            </a:pPr>
            <a:endParaRPr lang="en-US" altLang="en-US" sz="200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3200" b="1">
                <a:latin typeface="Arial" panose="020B0604020202020204" pitchFamily="34" charset="0"/>
                <a:cs typeface="Arial" panose="020B0604020202020204" pitchFamily="34" charset="0"/>
              </a:rPr>
              <a:t>Problem Statement</a:t>
            </a:r>
            <a:endParaRPr lang="en-IN" altLang="en-US" sz="3200" b="1">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pic>
        <p:nvPicPr>
          <p:cNvPr id="10" name="Picture 9"/>
          <p:cNvPicPr>
            <a:picLocks noChangeAspect="1"/>
          </p:cNvPicPr>
          <p:nvPr/>
        </p:nvPicPr>
        <p:blipFill>
          <a:blip r:embed="rId2"/>
          <a:stretch>
            <a:fillRect/>
          </a:stretch>
        </p:blipFill>
        <p:spPr>
          <a:xfrm>
            <a:off x="10831362" y="363384"/>
            <a:ext cx="816801" cy="862180"/>
          </a:xfrm>
          <a:prstGeom prst="rect">
            <a:avLst/>
          </a:prstGeom>
        </p:spPr>
      </p:pic>
      <p:sp>
        <p:nvSpPr>
          <p:cNvPr id="4" name="Text Box 3"/>
          <p:cNvSpPr txBox="1"/>
          <p:nvPr/>
        </p:nvSpPr>
        <p:spPr>
          <a:xfrm>
            <a:off x="439420" y="6433820"/>
            <a:ext cx="4064000" cy="645160"/>
          </a:xfrm>
          <a:prstGeom prst="rect">
            <a:avLst/>
          </a:prstGeom>
          <a:noFill/>
        </p:spPr>
        <p:txBody>
          <a:bodyPr wrap="square" rtlCol="0">
            <a:spAutoFit/>
          </a:bodyPr>
          <a:p>
            <a:r>
              <a:rPr lang="en-US" dirty="0" smtClean="0">
                <a:solidFill>
                  <a:schemeClr val="bg1"/>
                </a:solidFill>
                <a:sym typeface="+mn-ea"/>
              </a:rPr>
              <a:t>E2ACON 2025@NITJ</a:t>
            </a:r>
            <a:endParaRPr lang="en-US" dirty="0">
              <a:solidFill>
                <a:schemeClr val="bg1"/>
              </a:solidFill>
            </a:endParaRPr>
          </a:p>
          <a:p>
            <a:endParaRPr lang="en-US"/>
          </a:p>
        </p:txBody>
      </p:sp>
      <p:sp>
        <p:nvSpPr>
          <p:cNvPr id="5" name="Text Box 4"/>
          <p:cNvSpPr txBox="1"/>
          <p:nvPr/>
        </p:nvSpPr>
        <p:spPr>
          <a:xfrm>
            <a:off x="1108710" y="2061845"/>
            <a:ext cx="10057765" cy="2245360"/>
          </a:xfrm>
          <a:prstGeom prst="rect">
            <a:avLst/>
          </a:prstGeom>
          <a:noFill/>
        </p:spPr>
        <p:txBody>
          <a:bodyPr wrap="square" rtlCol="0">
            <a:spAutoFit/>
          </a:bodyPr>
          <a:p>
            <a:pPr marL="0" indent="0">
              <a:buNone/>
            </a:pPr>
            <a:r>
              <a:rPr lang="en-US" altLang="en-US" sz="2000">
                <a:latin typeface="Arial" panose="020B0604020202020204" pitchFamily="34" charset="0"/>
                <a:cs typeface="Arial" panose="020B0604020202020204" pitchFamily="34" charset="0"/>
              </a:rPr>
              <a:t>Student mental health significantly impacts academic performance and overall well-being. Early detection of mental health issues is essential for timely intervention and support. This project leverages machine learning to analyze student data, predict mental health status, and identify key stressors. By comparing pretrained models, we aim to determine the most accurate approach for mental health assessment. The ultimate goal is to provide insights into root causes and propose data-driven solutions for improving student mental health.</a:t>
            </a:r>
            <a:endParaRPr lang="en-US" altLang="en-US" sz="2000">
              <a:latin typeface="Arial" panose="020B0604020202020204" pitchFamily="34" charset="0"/>
              <a:cs typeface="Arial" panose="020B0604020202020204" pitchFamily="34" charset="0"/>
            </a:endParaRPr>
          </a:p>
        </p:txBody>
      </p:sp>
      <p:sp>
        <p:nvSpPr>
          <p:cNvPr id="6" name="Text Box 5"/>
          <p:cNvSpPr txBox="1"/>
          <p:nvPr/>
        </p:nvSpPr>
        <p:spPr>
          <a:xfrm>
            <a:off x="10062210" y="6433820"/>
            <a:ext cx="2130425" cy="645160"/>
          </a:xfrm>
          <a:prstGeom prst="rect">
            <a:avLst/>
          </a:prstGeom>
          <a:noFill/>
        </p:spPr>
        <p:txBody>
          <a:bodyPr wrap="square" rtlCol="0">
            <a:spAutoFit/>
          </a:bodyPr>
          <a:p>
            <a:r>
              <a:rPr lang="en-US" dirty="0" smtClean="0">
                <a:solidFill>
                  <a:schemeClr val="bg1"/>
                </a:solidFill>
                <a:sym typeface="+mn-ea"/>
              </a:rPr>
              <a:t>Paper ID: </a:t>
            </a:r>
            <a:r>
              <a:rPr lang="en-IN" altLang="en-US" dirty="0" smtClean="0">
                <a:solidFill>
                  <a:schemeClr val="bg1"/>
                </a:solidFill>
                <a:sym typeface="+mn-ea"/>
              </a:rPr>
              <a:t>86</a:t>
            </a:r>
            <a:endParaRPr lang="en-IN" altLang="en-US" dirty="0" smtClean="0">
              <a:solidFill>
                <a:schemeClr val="bg1"/>
              </a:solidFill>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dirty="0" smtClean="0">
                <a:latin typeface="Arial" panose="020B0604020202020204" pitchFamily="34" charset="0"/>
                <a:cs typeface="Arial" panose="020B0604020202020204" pitchFamily="34" charset="0"/>
                <a:sym typeface="+mn-ea"/>
              </a:rPr>
              <a:t>Literature Review</a:t>
            </a:r>
            <a:endParaRPr lang="en-US" sz="3200" b="1"/>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pic>
        <p:nvPicPr>
          <p:cNvPr id="10" name="Picture 9"/>
          <p:cNvPicPr>
            <a:picLocks noChangeAspect="1"/>
          </p:cNvPicPr>
          <p:nvPr/>
        </p:nvPicPr>
        <p:blipFill>
          <a:blip r:embed="rId2"/>
          <a:stretch>
            <a:fillRect/>
          </a:stretch>
        </p:blipFill>
        <p:spPr>
          <a:xfrm>
            <a:off x="10831362" y="363384"/>
            <a:ext cx="816801" cy="862180"/>
          </a:xfrm>
          <a:prstGeom prst="rect">
            <a:avLst/>
          </a:prstGeom>
        </p:spPr>
      </p:pic>
      <p:sp>
        <p:nvSpPr>
          <p:cNvPr id="4" name="Text Box 3"/>
          <p:cNvSpPr txBox="1"/>
          <p:nvPr/>
        </p:nvSpPr>
        <p:spPr>
          <a:xfrm>
            <a:off x="510540" y="6433820"/>
            <a:ext cx="4064000" cy="645160"/>
          </a:xfrm>
          <a:prstGeom prst="rect">
            <a:avLst/>
          </a:prstGeom>
          <a:noFill/>
        </p:spPr>
        <p:txBody>
          <a:bodyPr wrap="square" rtlCol="0">
            <a:spAutoFit/>
          </a:bodyPr>
          <a:p>
            <a:r>
              <a:rPr lang="en-US" dirty="0" smtClean="0">
                <a:solidFill>
                  <a:schemeClr val="bg1"/>
                </a:solidFill>
                <a:sym typeface="+mn-ea"/>
              </a:rPr>
              <a:t>E2ACON 2025@NITJ</a:t>
            </a:r>
            <a:endParaRPr lang="en-US" dirty="0">
              <a:solidFill>
                <a:schemeClr val="bg1"/>
              </a:solidFill>
            </a:endParaRPr>
          </a:p>
          <a:p>
            <a:endParaRPr lang="en-US"/>
          </a:p>
        </p:txBody>
      </p:sp>
      <p:sp>
        <p:nvSpPr>
          <p:cNvPr id="5" name="Text Box 4"/>
          <p:cNvSpPr txBox="1"/>
          <p:nvPr/>
        </p:nvSpPr>
        <p:spPr>
          <a:xfrm>
            <a:off x="1097280" y="2001520"/>
            <a:ext cx="10057765" cy="3784600"/>
          </a:xfrm>
          <a:prstGeom prst="rect">
            <a:avLst/>
          </a:prstGeom>
          <a:noFill/>
        </p:spPr>
        <p:txBody>
          <a:bodyPr wrap="square" rtlCol="0">
            <a:spAutoFit/>
          </a:bodyPr>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ML for Mental Health – Deep Learning (94.44%) outperforms other models in mental health prediction.</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Sentiment Analysis on Social Media – Naïve Bayes achieves the highest accuracy for Twitter sentiment classification.</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Regional Language Sentiment Analysis – Random Forest (95.6%) performs best for Malayalam tweets.</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Emotion Recognition – BERT achieves 97.6% F1-score in English and 96.8% in Polish.</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CBT Chatbot for Mental Health – Neural Network and k-NN chatbot improved user mood scores.</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COVID-19 Sentiment Analysis – BERT showed 94% accuracy in analyzing pandemic-related tweets.</a:t>
            </a:r>
            <a:endParaRPr lang="en-US" altLang="en-US" sz="2000">
              <a:latin typeface="Arial" panose="020B0604020202020204" pitchFamily="34" charset="0"/>
              <a:cs typeface="Arial" panose="020B0604020202020204" pitchFamily="34" charset="0"/>
            </a:endParaRPr>
          </a:p>
        </p:txBody>
      </p:sp>
      <p:sp>
        <p:nvSpPr>
          <p:cNvPr id="6" name="Text Box 5"/>
          <p:cNvSpPr txBox="1"/>
          <p:nvPr/>
        </p:nvSpPr>
        <p:spPr>
          <a:xfrm>
            <a:off x="10094595" y="6433820"/>
            <a:ext cx="1863725" cy="645160"/>
          </a:xfrm>
          <a:prstGeom prst="rect">
            <a:avLst/>
          </a:prstGeom>
          <a:noFill/>
        </p:spPr>
        <p:txBody>
          <a:bodyPr wrap="square" rtlCol="0">
            <a:spAutoFit/>
          </a:bodyPr>
          <a:p>
            <a:r>
              <a:rPr lang="en-US" dirty="0" smtClean="0">
                <a:solidFill>
                  <a:schemeClr val="bg1"/>
                </a:solidFill>
                <a:sym typeface="+mn-ea"/>
              </a:rPr>
              <a:t>Paper ID: </a:t>
            </a:r>
            <a:r>
              <a:rPr lang="en-IN" altLang="en-US" dirty="0" smtClean="0">
                <a:solidFill>
                  <a:schemeClr val="bg1"/>
                </a:solidFill>
                <a:sym typeface="+mn-ea"/>
              </a:rPr>
              <a:t>86</a:t>
            </a:r>
            <a:endParaRPr lang="en-IN" altLang="en-US" dirty="0" smtClean="0">
              <a:solidFill>
                <a:schemeClr val="bg1"/>
              </a:solidFill>
            </a:endParaRP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dirty="0" smtClean="0">
                <a:latin typeface="Arial" panose="020B0604020202020204" pitchFamily="34" charset="0"/>
                <a:cs typeface="Arial" panose="020B0604020202020204" pitchFamily="34" charset="0"/>
                <a:sym typeface="+mn-ea"/>
              </a:rPr>
              <a:t>Objective</a:t>
            </a:r>
            <a:endParaRPr lang="en-US" sz="3200" b="1" dirty="0" smtClean="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1194435" y="2141855"/>
            <a:ext cx="9961245" cy="2295525"/>
          </a:xfrm>
        </p:spPr>
        <p:txBody>
          <a:bodyPr/>
          <a:p>
            <a:pPr marL="0" marR="0" lvl="0" indent="0" algn="l" defTabSz="914400" rtl="0" eaLnBrk="0" fontAlgn="base" latinLnBrk="0" hangingPunct="0">
              <a:lnSpc>
                <a:spcPct val="100000"/>
              </a:lnSpc>
              <a:spcBef>
                <a:spcPct val="0"/>
              </a:spcBef>
              <a:spcAft>
                <a:spcPct val="0"/>
              </a:spcAft>
              <a:buClrTx/>
              <a:buSzTx/>
              <a:buFontTx/>
              <a:buNone/>
            </a:pPr>
            <a:r>
              <a:rPr lang="en-US" altLang="en-US" dirty="0">
                <a:ln>
                  <a:noFill/>
                </a:ln>
                <a:solidFill>
                  <a:schemeClr val="tx1"/>
                </a:solidFill>
                <a:effectLst/>
                <a:latin typeface="Arial" panose="020B0604020202020204" pitchFamily="34" charset="0"/>
                <a:cs typeface="Arial" panose="020B0604020202020204" pitchFamily="34" charset="0"/>
                <a:sym typeface="+mn-ea"/>
              </a:rPr>
              <a:t>This project aims is to offer a safe, supportive, and engaging environment for students dealing with mental health issues, using a human-like chatbot. This system ensures early intervention and</a:t>
            </a:r>
            <a:r>
              <a:rPr lang="en-IN" altLang="en-US" dirty="0">
                <a:ln>
                  <a:noFill/>
                </a:ln>
                <a:solidFill>
                  <a:schemeClr val="tx1"/>
                </a:solidFill>
                <a:effectLst/>
                <a:latin typeface="Arial" panose="020B0604020202020204" pitchFamily="34" charset="0"/>
                <a:cs typeface="Arial" panose="020B0604020202020204" pitchFamily="34" charset="0"/>
                <a:sym typeface="+mn-ea"/>
              </a:rPr>
              <a:t> </a:t>
            </a:r>
            <a:r>
              <a:rPr lang="en-US" b="1" dirty="0">
                <a:latin typeface="Arial" panose="020B0604020202020204" pitchFamily="34" charset="0"/>
                <a:cs typeface="Arial" panose="020B0604020202020204" pitchFamily="34" charset="0"/>
                <a:sym typeface="+mn-ea"/>
              </a:rPr>
              <a:t>secure and natural</a:t>
            </a:r>
            <a:r>
              <a:rPr lang="en-US" dirty="0">
                <a:latin typeface="Arial" panose="020B0604020202020204" pitchFamily="34" charset="0"/>
                <a:cs typeface="Arial" panose="020B0604020202020204" pitchFamily="34" charset="0"/>
                <a:sym typeface="+mn-ea"/>
              </a:rPr>
              <a:t> interactions, providing comfort and guidance to students,</a:t>
            </a:r>
            <a:r>
              <a:rPr lang="en-IN" altLang="en-US" dirty="0">
                <a:latin typeface="Arial" panose="020B0604020202020204" pitchFamily="34" charset="0"/>
                <a:cs typeface="Arial" panose="020B0604020202020204" pitchFamily="34" charset="0"/>
                <a:sym typeface="+mn-ea"/>
              </a:rPr>
              <a:t> </a:t>
            </a:r>
            <a:r>
              <a:rPr lang="en-US" dirty="0">
                <a:latin typeface="Arial" panose="020B0604020202020204" pitchFamily="34" charset="0"/>
                <a:cs typeface="Arial" panose="020B0604020202020204" pitchFamily="34" charset="0"/>
                <a:sym typeface="+mn-ea"/>
              </a:rPr>
              <a:t>t</a:t>
            </a:r>
            <a:r>
              <a:rPr lang="en-US" altLang="en-US" dirty="0">
                <a:ln>
                  <a:noFill/>
                </a:ln>
                <a:solidFill>
                  <a:schemeClr val="tx1"/>
                </a:solidFill>
                <a:effectLst/>
                <a:latin typeface="Arial" panose="020B0604020202020204" pitchFamily="34" charset="0"/>
                <a:cs typeface="Arial" panose="020B0604020202020204" pitchFamily="34" charset="0"/>
                <a:sym typeface="+mn-ea"/>
              </a:rPr>
              <a:t>hereby improving mental health outcomes.</a:t>
            </a:r>
            <a:endParaRPr lang="en-US" altLang="en-US" dirty="0">
              <a:ln>
                <a:noFill/>
              </a:ln>
              <a:solidFill>
                <a:schemeClr val="tx1"/>
              </a:solidFill>
              <a:effectLst/>
              <a:latin typeface="Arial" panose="020B0604020202020204" pitchFamily="34" charset="0"/>
              <a:cs typeface="Arial" panose="020B0604020202020204" pitchFamily="34" charset="0"/>
              <a:sym typeface="+mn-ea"/>
            </a:endParaRPr>
          </a:p>
          <a:p>
            <a:endParaRPr lang="en-US">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pic>
        <p:nvPicPr>
          <p:cNvPr id="10" name="Picture 9"/>
          <p:cNvPicPr>
            <a:picLocks noChangeAspect="1"/>
          </p:cNvPicPr>
          <p:nvPr/>
        </p:nvPicPr>
        <p:blipFill>
          <a:blip r:embed="rId2"/>
          <a:stretch>
            <a:fillRect/>
          </a:stretch>
        </p:blipFill>
        <p:spPr>
          <a:xfrm>
            <a:off x="10831362" y="363384"/>
            <a:ext cx="816801" cy="862180"/>
          </a:xfrm>
          <a:prstGeom prst="rect">
            <a:avLst/>
          </a:prstGeom>
        </p:spPr>
      </p:pic>
      <p:sp>
        <p:nvSpPr>
          <p:cNvPr id="6" name="Text Box 5"/>
          <p:cNvSpPr txBox="1"/>
          <p:nvPr/>
        </p:nvSpPr>
        <p:spPr>
          <a:xfrm>
            <a:off x="510540" y="6409690"/>
            <a:ext cx="4064000" cy="645160"/>
          </a:xfrm>
          <a:prstGeom prst="rect">
            <a:avLst/>
          </a:prstGeom>
          <a:noFill/>
        </p:spPr>
        <p:txBody>
          <a:bodyPr wrap="square" rtlCol="0">
            <a:spAutoFit/>
          </a:bodyPr>
          <a:p>
            <a:r>
              <a:rPr lang="en-US" dirty="0" smtClean="0">
                <a:solidFill>
                  <a:schemeClr val="bg1"/>
                </a:solidFill>
                <a:sym typeface="+mn-ea"/>
              </a:rPr>
              <a:t>E2ACON 2025@NITJ</a:t>
            </a:r>
            <a:endParaRPr lang="en-US" dirty="0">
              <a:solidFill>
                <a:schemeClr val="bg1"/>
              </a:solidFill>
            </a:endParaRPr>
          </a:p>
          <a:p>
            <a:endParaRPr lang="en-US"/>
          </a:p>
        </p:txBody>
      </p:sp>
      <p:sp>
        <p:nvSpPr>
          <p:cNvPr id="7" name="Text Box 6"/>
          <p:cNvSpPr txBox="1"/>
          <p:nvPr/>
        </p:nvSpPr>
        <p:spPr>
          <a:xfrm>
            <a:off x="10083800" y="6409690"/>
            <a:ext cx="1987550" cy="368300"/>
          </a:xfrm>
          <a:prstGeom prst="rect">
            <a:avLst/>
          </a:prstGeom>
          <a:noFill/>
        </p:spPr>
        <p:txBody>
          <a:bodyPr wrap="square" rtlCol="0">
            <a:spAutoFit/>
          </a:bodyPr>
          <a:p>
            <a:pPr eaLnBrk="1" hangingPunct="1"/>
            <a:r>
              <a:rPr lang="en-US" dirty="0" smtClean="0">
                <a:solidFill>
                  <a:schemeClr val="bg1"/>
                </a:solidFill>
                <a:sym typeface="+mn-ea"/>
              </a:rPr>
              <a:t>Paper ID: </a:t>
            </a:r>
            <a:r>
              <a:rPr lang="en-IN" altLang="en-US" dirty="0" smtClean="0">
                <a:solidFill>
                  <a:schemeClr val="bg1"/>
                </a:solidFill>
                <a:sym typeface="+mn-ea"/>
              </a:rPr>
              <a:t>86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71245" y="2066290"/>
            <a:ext cx="10048875" cy="2245360"/>
          </a:xfrm>
          <a:prstGeom prst="rect">
            <a:avLst/>
          </a:prstGeom>
          <a:noFill/>
        </p:spPr>
        <p:txBody>
          <a:bodyPr wrap="square" rtlCol="0">
            <a:spAutoFit/>
          </a:bodyPr>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Chatbot Interaction – Detects emotions, provides support.</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Data Collection – From social media, forums, self-reports.</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Preprocessing – Cleaning, label encoding, tokenization.</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Model Training – BERT-based models, 50-25-25 data split.</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Training Config – 20 epochs, batch size 8, AdamW optimizer.</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Evaluation – Accuracy, Precision, Recall, F1-score.</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Algorithms Used – XLNet, BERT, DistilBERT, RoBERTa.</a:t>
            </a:r>
            <a:endParaRPr lang="en-US" altLang="en-US" sz="2000">
              <a:latin typeface="Arial" panose="020B0604020202020204" pitchFamily="34" charset="0"/>
              <a:cs typeface="Arial" panose="020B0604020202020204" pitchFamily="34" charset="0"/>
            </a:endParaRPr>
          </a:p>
        </p:txBody>
      </p:sp>
      <p:sp>
        <p:nvSpPr>
          <p:cNvPr id="9" name="Text Box 8"/>
          <p:cNvSpPr txBox="1"/>
          <p:nvPr/>
        </p:nvSpPr>
        <p:spPr>
          <a:xfrm>
            <a:off x="2402840" y="1116965"/>
            <a:ext cx="7386955" cy="1076325"/>
          </a:xfrm>
          <a:prstGeom prst="rect">
            <a:avLst/>
          </a:prstGeom>
          <a:noFill/>
        </p:spPr>
        <p:txBody>
          <a:bodyPr wrap="square" rtlCol="0">
            <a:spAutoFit/>
          </a:bodyPr>
          <a:p>
            <a:pPr algn="ctr"/>
            <a:r>
              <a:rPr lang="en-US" sz="3200" b="1" dirty="0" smtClean="0">
                <a:latin typeface="Arial" panose="020B0604020202020204" pitchFamily="34" charset="0"/>
                <a:cs typeface="Arial" panose="020B0604020202020204" pitchFamily="34" charset="0"/>
                <a:sym typeface="+mn-ea"/>
              </a:rPr>
              <a:t>Proposed Methodology</a:t>
            </a:r>
            <a:endParaRPr lang="en-US" sz="3200" b="1"/>
          </a:p>
          <a:p>
            <a:pPr algn="ctr"/>
            <a:endParaRPr lang="en-US" sz="3200" b="1"/>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pic>
        <p:nvPicPr>
          <p:cNvPr id="10" name="Picture 9"/>
          <p:cNvPicPr>
            <a:picLocks noChangeAspect="1"/>
          </p:cNvPicPr>
          <p:nvPr/>
        </p:nvPicPr>
        <p:blipFill>
          <a:blip r:embed="rId2"/>
          <a:stretch>
            <a:fillRect/>
          </a:stretch>
        </p:blipFill>
        <p:spPr>
          <a:xfrm>
            <a:off x="10831362" y="363384"/>
            <a:ext cx="816801" cy="862180"/>
          </a:xfrm>
          <a:prstGeom prst="rect">
            <a:avLst/>
          </a:prstGeom>
        </p:spPr>
      </p:pic>
      <p:sp>
        <p:nvSpPr>
          <p:cNvPr id="13" name="Text Box 12"/>
          <p:cNvSpPr txBox="1"/>
          <p:nvPr/>
        </p:nvSpPr>
        <p:spPr>
          <a:xfrm>
            <a:off x="510540" y="6431915"/>
            <a:ext cx="4064000" cy="922020"/>
          </a:xfrm>
          <a:prstGeom prst="rect">
            <a:avLst/>
          </a:prstGeom>
          <a:noFill/>
        </p:spPr>
        <p:txBody>
          <a:bodyPr wrap="square" rtlCol="0">
            <a:spAutoFit/>
          </a:bodyPr>
          <a:p>
            <a:r>
              <a:rPr lang="en-US" dirty="0" smtClean="0">
                <a:solidFill>
                  <a:schemeClr val="bg1"/>
                </a:solidFill>
                <a:sym typeface="+mn-ea"/>
              </a:rPr>
              <a:t>E2ACON 2025@NITJ</a:t>
            </a:r>
            <a:endParaRPr lang="en-US" dirty="0">
              <a:solidFill>
                <a:schemeClr val="bg1"/>
              </a:solidFill>
            </a:endParaRPr>
          </a:p>
          <a:p>
            <a:endParaRPr lang="en-US"/>
          </a:p>
          <a:p>
            <a:endParaRPr lang="en-US"/>
          </a:p>
        </p:txBody>
      </p:sp>
      <p:sp>
        <p:nvSpPr>
          <p:cNvPr id="14" name="Text Box 13"/>
          <p:cNvSpPr txBox="1"/>
          <p:nvPr/>
        </p:nvSpPr>
        <p:spPr>
          <a:xfrm>
            <a:off x="10264775" y="6431915"/>
            <a:ext cx="2029460" cy="922020"/>
          </a:xfrm>
          <a:prstGeom prst="rect">
            <a:avLst/>
          </a:prstGeom>
          <a:noFill/>
        </p:spPr>
        <p:txBody>
          <a:bodyPr wrap="square" rtlCol="0">
            <a:spAutoFit/>
          </a:bodyPr>
          <a:p>
            <a:r>
              <a:rPr lang="en-US" dirty="0" smtClean="0">
                <a:solidFill>
                  <a:schemeClr val="bg1"/>
                </a:solidFill>
                <a:sym typeface="+mn-ea"/>
              </a:rPr>
              <a:t>Paper ID: </a:t>
            </a:r>
            <a:r>
              <a:rPr lang="en-IN" altLang="en-US" dirty="0" smtClean="0">
                <a:solidFill>
                  <a:schemeClr val="bg1"/>
                </a:solidFill>
                <a:sym typeface="+mn-ea"/>
              </a:rPr>
              <a:t>86</a:t>
            </a:r>
            <a:endParaRPr lang="en-IN" altLang="en-US" dirty="0" smtClean="0">
              <a:solidFill>
                <a:schemeClr val="bg1"/>
              </a:solidFill>
            </a:endParaRPr>
          </a:p>
          <a:p>
            <a:endParaRPr lang="en-US"/>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dirty="0" smtClean="0">
                <a:latin typeface="Arial" panose="020B0604020202020204" pitchFamily="34" charset="0"/>
                <a:cs typeface="Arial" panose="020B0604020202020204" pitchFamily="34" charset="0"/>
                <a:sym typeface="+mn-ea"/>
              </a:rPr>
              <a:t>Results and Discussion</a:t>
            </a:r>
            <a:endParaRPr lang="en-US" sz="3200" b="1"/>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pic>
        <p:nvPicPr>
          <p:cNvPr id="10" name="Picture 9"/>
          <p:cNvPicPr>
            <a:picLocks noChangeAspect="1"/>
          </p:cNvPicPr>
          <p:nvPr/>
        </p:nvPicPr>
        <p:blipFill>
          <a:blip r:embed="rId2"/>
          <a:stretch>
            <a:fillRect/>
          </a:stretch>
        </p:blipFill>
        <p:spPr>
          <a:xfrm>
            <a:off x="10831362" y="363384"/>
            <a:ext cx="816801" cy="862180"/>
          </a:xfrm>
          <a:prstGeom prst="rect">
            <a:avLst/>
          </a:prstGeom>
        </p:spPr>
      </p:pic>
      <p:sp>
        <p:nvSpPr>
          <p:cNvPr id="4" name="Text Box 3"/>
          <p:cNvSpPr txBox="1"/>
          <p:nvPr/>
        </p:nvSpPr>
        <p:spPr>
          <a:xfrm>
            <a:off x="510540" y="6409690"/>
            <a:ext cx="4064000" cy="645160"/>
          </a:xfrm>
          <a:prstGeom prst="rect">
            <a:avLst/>
          </a:prstGeom>
          <a:noFill/>
        </p:spPr>
        <p:txBody>
          <a:bodyPr wrap="square" rtlCol="0">
            <a:spAutoFit/>
          </a:bodyPr>
          <a:p>
            <a:r>
              <a:rPr lang="en-US" dirty="0" smtClean="0">
                <a:solidFill>
                  <a:schemeClr val="bg1"/>
                </a:solidFill>
                <a:sym typeface="+mn-ea"/>
              </a:rPr>
              <a:t>E2ACON 2025@NITJ</a:t>
            </a:r>
            <a:endParaRPr lang="en-US" dirty="0">
              <a:solidFill>
                <a:schemeClr val="bg1"/>
              </a:solidFill>
            </a:endParaRPr>
          </a:p>
          <a:p>
            <a:endParaRPr lang="en-US"/>
          </a:p>
        </p:txBody>
      </p:sp>
      <p:sp>
        <p:nvSpPr>
          <p:cNvPr id="5" name="Text Box 4"/>
          <p:cNvSpPr txBox="1"/>
          <p:nvPr/>
        </p:nvSpPr>
        <p:spPr>
          <a:xfrm>
            <a:off x="1097280" y="2086610"/>
            <a:ext cx="10057765" cy="2245360"/>
          </a:xfrm>
          <a:prstGeom prst="rect">
            <a:avLst/>
          </a:prstGeom>
          <a:noFill/>
        </p:spPr>
        <p:txBody>
          <a:bodyPr wrap="square" rtlCol="0">
            <a:spAutoFit/>
          </a:bodyPr>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BERT and DistilBERT performed best with 85.7% accuracy and 86.4 F1 score.</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XLNet had the lowest performance with 69% accuracy and 70 F1 score.</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F1 score is the key metric, balancing precision and recall.</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Models were trained on a standard laptop, but larger datasets require better hardware.</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Smaller models like DistilBERT offer good performance with lower computational cost.</a:t>
            </a:r>
            <a:endParaRPr lang="en-US" altLang="en-US" sz="2000">
              <a:latin typeface="Arial" panose="020B0604020202020204" pitchFamily="34" charset="0"/>
              <a:cs typeface="Arial" panose="020B0604020202020204" pitchFamily="34" charset="0"/>
            </a:endParaRPr>
          </a:p>
        </p:txBody>
      </p:sp>
      <p:sp>
        <p:nvSpPr>
          <p:cNvPr id="6" name="Text Box 5"/>
          <p:cNvSpPr txBox="1"/>
          <p:nvPr/>
        </p:nvSpPr>
        <p:spPr>
          <a:xfrm>
            <a:off x="10403205" y="6473825"/>
            <a:ext cx="1977390" cy="645160"/>
          </a:xfrm>
          <a:prstGeom prst="rect">
            <a:avLst/>
          </a:prstGeom>
          <a:noFill/>
        </p:spPr>
        <p:txBody>
          <a:bodyPr wrap="square" rtlCol="0">
            <a:spAutoFit/>
          </a:bodyPr>
          <a:p>
            <a:r>
              <a:rPr lang="en-US" dirty="0" smtClean="0">
                <a:solidFill>
                  <a:schemeClr val="bg1"/>
                </a:solidFill>
                <a:sym typeface="+mn-ea"/>
              </a:rPr>
              <a:t>Paper ID: </a:t>
            </a:r>
            <a:r>
              <a:rPr lang="en-IN" altLang="en-US" dirty="0" smtClean="0">
                <a:solidFill>
                  <a:schemeClr val="bg1"/>
                </a:solidFill>
                <a:sym typeface="+mn-ea"/>
              </a:rPr>
              <a:t>86</a:t>
            </a:r>
            <a:endParaRPr lang="en-IN" altLang="en-US" dirty="0" smtClean="0">
              <a:solidFill>
                <a:schemeClr val="bg1"/>
              </a:solidFill>
            </a:endParaRP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dirty="0" smtClean="0">
                <a:latin typeface="Arial" panose="020B0604020202020204" pitchFamily="34" charset="0"/>
                <a:cs typeface="Arial" panose="020B0604020202020204" pitchFamily="34" charset="0"/>
                <a:sym typeface="+mn-ea"/>
              </a:rPr>
              <a:t>Conclusion </a:t>
            </a:r>
            <a:r>
              <a:rPr lang="en-US" sz="3200" b="1" dirty="0">
                <a:latin typeface="Arial" panose="020B0604020202020204" pitchFamily="34" charset="0"/>
                <a:cs typeface="Arial" panose="020B0604020202020204" pitchFamily="34" charset="0"/>
                <a:sym typeface="+mn-ea"/>
              </a:rPr>
              <a:t>and </a:t>
            </a:r>
            <a:r>
              <a:rPr lang="en-US" sz="3200" b="1" dirty="0" smtClean="0">
                <a:latin typeface="Arial" panose="020B0604020202020204" pitchFamily="34" charset="0"/>
                <a:cs typeface="Arial" panose="020B0604020202020204" pitchFamily="34" charset="0"/>
                <a:sym typeface="+mn-ea"/>
              </a:rPr>
              <a:t>Future Work</a:t>
            </a:r>
            <a:endParaRPr lang="en-US" sz="3200" b="1" dirty="0" smtClean="0">
              <a:latin typeface="Arial" panose="020B0604020202020204" pitchFamily="34" charset="0"/>
              <a:cs typeface="Arial" panose="020B0604020202020204" pitchFamily="34" charset="0"/>
              <a:sym typeface="+mn-ea"/>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pic>
        <p:nvPicPr>
          <p:cNvPr id="10" name="Picture 9"/>
          <p:cNvPicPr>
            <a:picLocks noChangeAspect="1"/>
          </p:cNvPicPr>
          <p:nvPr/>
        </p:nvPicPr>
        <p:blipFill>
          <a:blip r:embed="rId2"/>
          <a:stretch>
            <a:fillRect/>
          </a:stretch>
        </p:blipFill>
        <p:spPr>
          <a:xfrm>
            <a:off x="10831362" y="363384"/>
            <a:ext cx="816801" cy="862180"/>
          </a:xfrm>
          <a:prstGeom prst="rect">
            <a:avLst/>
          </a:prstGeom>
        </p:spPr>
      </p:pic>
      <p:sp>
        <p:nvSpPr>
          <p:cNvPr id="6" name="Text Box 5"/>
          <p:cNvSpPr txBox="1"/>
          <p:nvPr/>
        </p:nvSpPr>
        <p:spPr>
          <a:xfrm>
            <a:off x="510540" y="6409690"/>
            <a:ext cx="4064000" cy="645160"/>
          </a:xfrm>
          <a:prstGeom prst="rect">
            <a:avLst/>
          </a:prstGeom>
          <a:noFill/>
        </p:spPr>
        <p:txBody>
          <a:bodyPr wrap="square" rtlCol="0">
            <a:spAutoFit/>
          </a:bodyPr>
          <a:p>
            <a:r>
              <a:rPr lang="en-US" dirty="0" smtClean="0">
                <a:solidFill>
                  <a:schemeClr val="bg1"/>
                </a:solidFill>
                <a:sym typeface="+mn-ea"/>
              </a:rPr>
              <a:t>E2ACON 2025@NITJ</a:t>
            </a:r>
            <a:endParaRPr lang="en-US" dirty="0">
              <a:solidFill>
                <a:schemeClr val="bg1"/>
              </a:solidFill>
            </a:endParaRPr>
          </a:p>
          <a:p>
            <a:endParaRPr lang="en-US"/>
          </a:p>
        </p:txBody>
      </p:sp>
      <p:sp>
        <p:nvSpPr>
          <p:cNvPr id="7" name="Text Box 6"/>
          <p:cNvSpPr txBox="1"/>
          <p:nvPr/>
        </p:nvSpPr>
        <p:spPr>
          <a:xfrm>
            <a:off x="1097280" y="1982470"/>
            <a:ext cx="10059035" cy="3784600"/>
          </a:xfrm>
          <a:prstGeom prst="rect">
            <a:avLst/>
          </a:prstGeom>
          <a:noFill/>
        </p:spPr>
        <p:txBody>
          <a:bodyPr wrap="square" rtlCol="0">
            <a:spAutoFit/>
          </a:bodyPr>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Student mental health needs more attention in the medical field.</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The system automates mental health detection using Cognitive Behavioral Therapy (CBT).</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BERT outperforms other models like RoBERTa, DistilBERT, and XLNet</a:t>
            </a:r>
            <a:r>
              <a:rPr lang="en-IN" altLang="en-US" sz="2000">
                <a:latin typeface="Arial" panose="020B0604020202020204" pitchFamily="34" charset="0"/>
                <a:cs typeface="Arial" panose="020B0604020202020204" pitchFamily="34" charset="0"/>
              </a:rPr>
              <a:t>, for smaller datasize and low end GPUs.</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rPr>
              <a:t>Provides human-like interactions for a secure and supportive chatbot experience.</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sym typeface="+mn-ea"/>
              </a:rPr>
              <a:t>Scale and Expand – Enhance the system for wider adoption and improved accuracy.</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sym typeface="+mn-ea"/>
              </a:rPr>
              <a:t>Forge Partnerships – Collaborate with government, private sector, and civil society for greater impact.</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r>
              <a:rPr lang="en-US" altLang="en-US" sz="2000">
                <a:latin typeface="Arial" panose="020B0604020202020204" pitchFamily="34" charset="0"/>
                <a:cs typeface="Arial" panose="020B0604020202020204" pitchFamily="34" charset="0"/>
                <a:sym typeface="+mn-ea"/>
              </a:rPr>
              <a:t>Monitor and Evaluate – Continuously assess and optimize model performance.</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
            </a:pPr>
            <a:endParaRPr lang="en-US" sz="2000"/>
          </a:p>
          <a:p>
            <a:pPr marL="342900" indent="-342900">
              <a:buFont typeface="Wingdings" panose="05000000000000000000" charset="0"/>
              <a:buChar char="§"/>
            </a:pPr>
            <a:endParaRPr lang="en-US" altLang="en-US" sz="2000">
              <a:latin typeface="Arial" panose="020B0604020202020204" pitchFamily="34" charset="0"/>
              <a:cs typeface="Arial" panose="020B0604020202020204" pitchFamily="34" charset="0"/>
            </a:endParaRPr>
          </a:p>
        </p:txBody>
      </p:sp>
      <p:sp>
        <p:nvSpPr>
          <p:cNvPr id="8" name="Text Box 7"/>
          <p:cNvSpPr txBox="1"/>
          <p:nvPr/>
        </p:nvSpPr>
        <p:spPr>
          <a:xfrm>
            <a:off x="10403205" y="6463030"/>
            <a:ext cx="1720850" cy="645160"/>
          </a:xfrm>
          <a:prstGeom prst="rect">
            <a:avLst/>
          </a:prstGeom>
          <a:noFill/>
        </p:spPr>
        <p:txBody>
          <a:bodyPr wrap="square" rtlCol="0">
            <a:spAutoFit/>
          </a:bodyPr>
          <a:p>
            <a:r>
              <a:rPr lang="en-US" dirty="0" smtClean="0">
                <a:solidFill>
                  <a:schemeClr val="bg1"/>
                </a:solidFill>
                <a:sym typeface="+mn-ea"/>
              </a:rPr>
              <a:t>Paper ID: </a:t>
            </a:r>
            <a:r>
              <a:rPr lang="en-IN" altLang="en-US" dirty="0" smtClean="0">
                <a:solidFill>
                  <a:schemeClr val="bg1"/>
                </a:solidFill>
                <a:sym typeface="+mn-ea"/>
              </a:rPr>
              <a:t>86</a:t>
            </a:r>
            <a:endParaRPr lang="en-IN" altLang="en-US" dirty="0" smtClean="0">
              <a:solidFill>
                <a:schemeClr val="bg1"/>
              </a:solidFill>
            </a:endParaRP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1363" y="1096308"/>
            <a:ext cx="10058400" cy="591732"/>
          </a:xfrm>
        </p:spPr>
        <p:txBody>
          <a:bodyPr>
            <a:normAutofit/>
          </a:bodyPr>
          <a:lstStyle/>
          <a:p>
            <a:pPr algn="ctr"/>
            <a:r>
              <a:rPr lang="en-US" sz="3200" b="1" dirty="0" smtClean="0">
                <a:latin typeface="Arial" panose="020B0604020202020204" pitchFamily="34" charset="0"/>
                <a:cs typeface="Arial" panose="020B0604020202020204" pitchFamily="34" charset="0"/>
              </a:rPr>
              <a:t>References</a:t>
            </a:r>
            <a:endParaRPr lang="en-GB" sz="3200" b="1" dirty="0">
              <a:latin typeface="Arial" panose="020B0604020202020204" pitchFamily="34" charset="0"/>
              <a:cs typeface="Arial" panose="020B0604020202020204" pitchFamily="34" charset="0"/>
            </a:endParaRPr>
          </a:p>
        </p:txBody>
      </p:sp>
      <p:sp>
        <p:nvSpPr>
          <p:cNvPr id="7" name="TextBox 5"/>
          <p:cNvSpPr txBox="1">
            <a:spLocks noChangeArrowheads="1"/>
          </p:cNvSpPr>
          <p:nvPr/>
        </p:nvSpPr>
        <p:spPr bwMode="auto">
          <a:xfrm>
            <a:off x="510683" y="6421437"/>
            <a:ext cx="2162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E2ACON 2025</a:t>
            </a:r>
            <a:endParaRPr lang="en-US" dirty="0">
              <a:solidFill>
                <a:schemeClr val="bg1"/>
              </a:solidFill>
            </a:endParaRPr>
          </a:p>
        </p:txBody>
      </p:sp>
      <p:sp>
        <p:nvSpPr>
          <p:cNvPr id="8" name="TextBox 5"/>
          <p:cNvSpPr txBox="1">
            <a:spLocks noChangeArrowheads="1"/>
          </p:cNvSpPr>
          <p:nvPr/>
        </p:nvSpPr>
        <p:spPr bwMode="auto">
          <a:xfrm>
            <a:off x="10319704" y="6442392"/>
            <a:ext cx="1710236"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sym typeface="+mn-ea"/>
              </a:rPr>
              <a:t>Paper ID: </a:t>
            </a:r>
            <a:r>
              <a:rPr lang="en-IN" altLang="en-US" dirty="0" smtClean="0">
                <a:solidFill>
                  <a:schemeClr val="bg1"/>
                </a:solidFill>
                <a:sym typeface="+mn-ea"/>
              </a:rPr>
              <a:t>86</a:t>
            </a:r>
            <a:endParaRPr lang="en-US" dirty="0">
              <a:solidFill>
                <a:schemeClr val="bg1"/>
              </a:solidFill>
            </a:endParaRPr>
          </a:p>
        </p:txBody>
      </p:sp>
      <p:pic>
        <p:nvPicPr>
          <p:cNvPr id="10" name="Picture 9"/>
          <p:cNvPicPr>
            <a:picLocks noChangeAspect="1"/>
          </p:cNvPicPr>
          <p:nvPr/>
        </p:nvPicPr>
        <p:blipFill>
          <a:blip r:embed="rId1"/>
          <a:stretch>
            <a:fillRect/>
          </a:stretch>
        </p:blipFill>
        <p:spPr>
          <a:xfrm>
            <a:off x="10831362" y="363384"/>
            <a:ext cx="816801" cy="862180"/>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683" y="283095"/>
            <a:ext cx="935478" cy="1022759"/>
          </a:xfrm>
          <a:prstGeom prst="rect">
            <a:avLst/>
          </a:prstGeom>
        </p:spPr>
      </p:pic>
      <p:sp>
        <p:nvSpPr>
          <p:cNvPr id="9" name="TextBox 5"/>
          <p:cNvSpPr txBox="1">
            <a:spLocks noChangeArrowheads="1"/>
          </p:cNvSpPr>
          <p:nvPr/>
        </p:nvSpPr>
        <p:spPr bwMode="auto">
          <a:xfrm>
            <a:off x="510683" y="6421437"/>
            <a:ext cx="2539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dirty="0" smtClean="0">
                <a:solidFill>
                  <a:schemeClr val="bg1"/>
                </a:solidFill>
              </a:rPr>
              <a:t>E2ACON 2025@NITJ</a:t>
            </a:r>
            <a:endParaRPr lang="en-US" dirty="0">
              <a:solidFill>
                <a:schemeClr val="bg1"/>
              </a:solidFill>
            </a:endParaRPr>
          </a:p>
        </p:txBody>
      </p:sp>
      <p:sp>
        <p:nvSpPr>
          <p:cNvPr id="4" name="Text Box 3"/>
          <p:cNvSpPr txBox="1"/>
          <p:nvPr/>
        </p:nvSpPr>
        <p:spPr>
          <a:xfrm>
            <a:off x="1017905" y="1845310"/>
            <a:ext cx="10221595" cy="4030980"/>
          </a:xfrm>
          <a:prstGeom prst="rect">
            <a:avLst/>
          </a:prstGeom>
        </p:spPr>
        <p:txBody>
          <a:bodyPr wrap="square">
            <a:spAutoFit/>
          </a:bodyPr>
          <a:p>
            <a:pPr marL="429895" indent="-285750" algn="just" defTabSz="266700" fontAlgn="base" hangingPunct="0">
              <a:buFont typeface="Wingdings" panose="05000000000000000000" charset="0"/>
              <a:buChar char="§"/>
              <a:tabLst>
                <a:tab pos="215900" algn="l"/>
              </a:tabLst>
            </a:pPr>
            <a:r>
              <a:rPr lang="en-US" altLang="en-US" sz="1600">
                <a:latin typeface="Arial" panose="020B0604020202020204" pitchFamily="34" charset="0"/>
                <a:ea typeface="Times New Roman" panose="02020603050405020304"/>
                <a:cs typeface="Arial" panose="020B0604020202020204" pitchFamily="34" charset="0"/>
              </a:rPr>
              <a:t>Islam, M. M., Hassan, S., Akter, S., Jibon, F. A., &amp; Sahidullah, M. (2024). A comprehensive review of predictive analytics models for mental illness using machine learning algorithms. Healthcare Analytics, 6, 100350. https://doi.org/10.1016/j.health.2024.100350</a:t>
            </a:r>
            <a:endParaRPr lang="en-US" altLang="en-US" sz="1600">
              <a:latin typeface="Arial" panose="020B0604020202020204" pitchFamily="34" charset="0"/>
              <a:ea typeface="Times New Roman" panose="02020603050405020304"/>
              <a:cs typeface="Arial" panose="020B0604020202020204" pitchFamily="34" charset="0"/>
            </a:endParaRPr>
          </a:p>
          <a:p>
            <a:pPr marL="429895" indent="-285750" algn="just" defTabSz="266700" fontAlgn="base" hangingPunct="0">
              <a:buFont typeface="Wingdings" panose="05000000000000000000" charset="0"/>
              <a:buChar char="§"/>
              <a:tabLst>
                <a:tab pos="215900" algn="l"/>
              </a:tabLst>
            </a:pPr>
            <a:r>
              <a:rPr lang="en-US" altLang="en-US" sz="1600">
                <a:latin typeface="Arial" panose="020B0604020202020204" pitchFamily="34" charset="0"/>
                <a:ea typeface="Times New Roman" panose="02020603050405020304"/>
                <a:cs typeface="Arial" panose="020B0604020202020204" pitchFamily="34" charset="0"/>
              </a:rPr>
              <a:t>Wongkar, M., &amp; Angdresey, A. (2019). Sentiment Analysis Using Naïve Bayes Algorithm of The Data Crawler: Twitter. Fourth International Conference on Informatics and Computing (ICIC), 1-5. https://doi.org/10.1109/ICIC47613.2019.8985884</a:t>
            </a:r>
            <a:endParaRPr lang="en-US" altLang="en-US" sz="1600">
              <a:latin typeface="Arial" panose="020B0604020202020204" pitchFamily="34" charset="0"/>
              <a:ea typeface="Times New Roman" panose="02020603050405020304"/>
              <a:cs typeface="Arial" panose="020B0604020202020204" pitchFamily="34" charset="0"/>
            </a:endParaRPr>
          </a:p>
          <a:p>
            <a:pPr marL="429895" indent="-285750" algn="just" defTabSz="266700" fontAlgn="base" hangingPunct="0">
              <a:buFont typeface="Wingdings" panose="05000000000000000000" charset="0"/>
              <a:buChar char="§"/>
              <a:tabLst>
                <a:tab pos="215900" algn="l"/>
              </a:tabLst>
            </a:pPr>
            <a:r>
              <a:rPr lang="en-US" altLang="en-US" sz="1600">
                <a:latin typeface="Arial" panose="020B0604020202020204" pitchFamily="34" charset="0"/>
                <a:ea typeface="Times New Roman" panose="02020603050405020304"/>
                <a:cs typeface="Arial" panose="020B0604020202020204" pitchFamily="34" charset="0"/>
              </a:rPr>
              <a:t>Soumya, S., &amp; Pramod, K. V. (2020). Sentiment analysis of Malayalam tweets using machine learning techniques. ICT Express, 6. https://doi.org/10.1016/j.icte.2020.04.003</a:t>
            </a:r>
            <a:endParaRPr lang="en-US" altLang="en-US" sz="1600">
              <a:latin typeface="Arial" panose="020B0604020202020204" pitchFamily="34" charset="0"/>
              <a:ea typeface="Times New Roman" panose="02020603050405020304"/>
              <a:cs typeface="Arial" panose="020B0604020202020204" pitchFamily="34" charset="0"/>
            </a:endParaRPr>
          </a:p>
          <a:p>
            <a:pPr marL="429895" indent="-285750" algn="just" defTabSz="266700" fontAlgn="base" hangingPunct="0">
              <a:buFont typeface="Wingdings" panose="05000000000000000000" charset="0"/>
              <a:buChar char="§"/>
              <a:tabLst>
                <a:tab pos="215900" algn="l"/>
              </a:tabLst>
            </a:pPr>
            <a:r>
              <a:rPr lang="en-US" altLang="en-US" sz="1600">
                <a:latin typeface="Arial" panose="020B0604020202020204" pitchFamily="34" charset="0"/>
                <a:ea typeface="Times New Roman" panose="02020603050405020304"/>
                <a:cs typeface="Arial" panose="020B0604020202020204" pitchFamily="34" charset="0"/>
              </a:rPr>
              <a:t>Zygad</a:t>
            </a:r>
            <a:r>
              <a:rPr lang="" altLang="en-US" sz="1600">
                <a:latin typeface="Arial" panose="020B0604020202020204" pitchFamily="34" charset="0"/>
                <a:ea typeface="Times New Roman" panose="02020603050405020304"/>
                <a:cs typeface="Arial" panose="020B0604020202020204" pitchFamily="34" charset="0"/>
              </a:rPr>
              <a:t>ł</a:t>
            </a:r>
            <a:r>
              <a:rPr lang="en-US" altLang="en-US" sz="1600">
                <a:latin typeface="Arial" panose="020B0604020202020204" pitchFamily="34" charset="0"/>
                <a:ea typeface="Times New Roman" panose="02020603050405020304"/>
                <a:cs typeface="Arial" panose="020B0604020202020204" pitchFamily="34" charset="0"/>
              </a:rPr>
              <a:t>o, A., Koz</a:t>
            </a:r>
            <a:r>
              <a:rPr lang="" altLang="en-US" sz="1600">
                <a:latin typeface="Arial" panose="020B0604020202020204" pitchFamily="34" charset="0"/>
                <a:ea typeface="Times New Roman" panose="02020603050405020304"/>
                <a:cs typeface="Arial" panose="020B0604020202020204" pitchFamily="34" charset="0"/>
              </a:rPr>
              <a:t>ł</a:t>
            </a:r>
            <a:r>
              <a:rPr lang="en-US" altLang="en-US" sz="1600">
                <a:latin typeface="Arial" panose="020B0604020202020204" pitchFamily="34" charset="0"/>
                <a:ea typeface="Times New Roman" panose="02020603050405020304"/>
                <a:cs typeface="Arial" panose="020B0604020202020204" pitchFamily="34" charset="0"/>
              </a:rPr>
              <a:t>owski, M., &amp; Janicki, A. (2021). Text-Based Emotion Recognition in English and Polish for Therapeutic Chatbot. Applied Sciences, 11, 10146. https://doi.org/10.3390/app112110146</a:t>
            </a:r>
            <a:endParaRPr lang="en-US" altLang="en-US" sz="1600">
              <a:latin typeface="Arial" panose="020B0604020202020204" pitchFamily="34" charset="0"/>
              <a:ea typeface="Times New Roman" panose="02020603050405020304"/>
              <a:cs typeface="Arial" panose="020B0604020202020204" pitchFamily="34" charset="0"/>
            </a:endParaRPr>
          </a:p>
          <a:p>
            <a:pPr marL="429895" indent="-285750" algn="just" defTabSz="266700" fontAlgn="base" hangingPunct="0">
              <a:buFont typeface="Wingdings" panose="05000000000000000000" charset="0"/>
              <a:buChar char="§"/>
              <a:tabLst>
                <a:tab pos="215900" algn="l"/>
              </a:tabLst>
            </a:pPr>
            <a:r>
              <a:rPr lang="en-US" altLang="en-US" sz="1600">
                <a:latin typeface="Arial" panose="020B0604020202020204" pitchFamily="34" charset="0"/>
                <a:ea typeface="Times New Roman" panose="02020603050405020304"/>
                <a:cs typeface="Arial" panose="020B0604020202020204" pitchFamily="34" charset="0"/>
              </a:rPr>
              <a:t>Rathnayaka, P., Mills, N., Burnett, D., Silva, D., Alahakoon, D., &amp; Gray, R. (2022). A Mental Health Chatbot with Cognitive Skills for Personalized Behavioural Activation and Remote Health Monitoring. Sensors, 22, 3653. https://doi.org/10.3390/s22103653</a:t>
            </a:r>
            <a:endParaRPr lang="en-US" altLang="en-US" sz="1600">
              <a:latin typeface="Arial" panose="020B0604020202020204" pitchFamily="34" charset="0"/>
              <a:ea typeface="Times New Roman" panose="02020603050405020304"/>
              <a:cs typeface="Arial" panose="020B0604020202020204" pitchFamily="34" charset="0"/>
            </a:endParaRPr>
          </a:p>
          <a:p>
            <a:pPr marL="429895" indent="-285750" algn="just" defTabSz="266700" fontAlgn="base" hangingPunct="0">
              <a:buFont typeface="Wingdings" panose="05000000000000000000" charset="0"/>
              <a:buChar char="§"/>
              <a:tabLst>
                <a:tab pos="215900" algn="l"/>
              </a:tabLst>
            </a:pPr>
            <a:r>
              <a:rPr lang="en-US" altLang="en-US" sz="1600">
                <a:latin typeface="Arial" panose="020B0604020202020204" pitchFamily="34" charset="0"/>
                <a:ea typeface="Times New Roman" panose="02020603050405020304"/>
                <a:cs typeface="Arial" panose="020B0604020202020204" pitchFamily="34" charset="0"/>
              </a:rPr>
              <a:t>Mrityunjay, S., Jakhar, A., &amp; Pandey, S. (2021). Sentiment analysis on the impact of coronavirus in social life using the BERT model. Social Network Analysis and Mining, 11. https://doi.org/10.1007/s13278-021-00737-z</a:t>
            </a:r>
            <a:endParaRPr lang="en-US" altLang="en-US" sz="1600">
              <a:latin typeface="Arial" panose="020B0604020202020204" pitchFamily="34" charset="0"/>
              <a:ea typeface="Times New Roman" panose="02020603050405020304"/>
              <a:cs typeface="Arial" panose="020B0604020202020204" pitchFamily="34"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5542</Words>
  <Application>WPS Presentation</Application>
  <PresentationFormat>Widescreen</PresentationFormat>
  <Paragraphs>156</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Century Gothic</vt:lpstr>
      <vt:lpstr>Calibri</vt:lpstr>
      <vt:lpstr>Georgia Pro Black</vt:lpstr>
      <vt:lpstr>Georgia</vt:lpstr>
      <vt:lpstr>Wingdings</vt:lpstr>
      <vt:lpstr>Times New Roman</vt:lpstr>
      <vt:lpstr>Microsoft YaHei</vt:lpstr>
      <vt:lpstr>Arial Unicode MS</vt:lpstr>
      <vt:lpstr>Calibri Light</vt:lpstr>
      <vt:lpstr>Retrospect</vt:lpstr>
      <vt:lpstr>PowerPoint 演示文稿</vt:lpstr>
      <vt:lpstr>Contents</vt:lpstr>
      <vt:lpstr>Introduction</vt:lpstr>
      <vt:lpstr>Problem Statement</vt:lpstr>
      <vt:lpstr>Literature Review</vt:lpstr>
      <vt:lpstr>Objective</vt:lpstr>
      <vt:lpstr>PowerPoint 演示文稿</vt:lpstr>
      <vt:lpstr>Results and Discussion</vt:lpstr>
      <vt:lpstr>Conclusion and Future Work</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IEEE IAS GLOBCONHT 2023</dc:title>
  <dc:creator>rabindra nath shaw</dc:creator>
  <cp:lastModifiedBy>ASHUTOSH VERMA</cp:lastModifiedBy>
  <cp:revision>126</cp:revision>
  <dcterms:created xsi:type="dcterms:W3CDTF">2023-01-27T21:32:00Z</dcterms:created>
  <dcterms:modified xsi:type="dcterms:W3CDTF">2025-03-04T19:15:16Z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6B639D03999E4B81ABD40E00EE42F50B_12</vt:lpwstr>
  </property>
  <property fmtid="{D5CDD505-2E9C-101B-9397-08002B2CF9AE}" pid="3" name="KSOProductBuildVer">
    <vt:lpwstr>1033-12.2.0.20323</vt:lpwstr>
  </property>
</Properties>
</file>